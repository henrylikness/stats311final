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656103-9261-4B79-BE38-134094516887}" type="doc">
      <dgm:prSet loTypeId="urn:microsoft.com/office/officeart/2005/8/layout/process1" loCatId="process" qsTypeId="urn:microsoft.com/office/officeart/2005/8/quickstyle/simple4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5AC744D6-4BC3-4E64-AFA7-8B326850F784}">
      <dgm:prSet phldrT="[Text]" phldr="0"/>
      <dgm:spPr/>
      <dgm:t>
        <a:bodyPr/>
        <a:lstStyle/>
        <a:p>
          <a:r>
            <a:rPr lang="en-US" dirty="0"/>
            <a:t>All </a:t>
          </a:r>
          <a:r>
            <a:rPr lang="en-US" dirty="0" err="1"/>
            <a:t>quantitatave</a:t>
          </a:r>
          <a:r>
            <a:rPr lang="en-US" dirty="0"/>
            <a:t> predictors</a:t>
          </a:r>
        </a:p>
      </dgm:t>
    </dgm:pt>
    <dgm:pt modelId="{976B96D6-43E5-4152-8E68-A978381F6A2C}" type="parTrans" cxnId="{AEEA1E79-FBA7-4FC3-A44E-440B080E9385}">
      <dgm:prSet/>
      <dgm:spPr/>
      <dgm:t>
        <a:bodyPr/>
        <a:lstStyle/>
        <a:p>
          <a:endParaRPr lang="en-US"/>
        </a:p>
      </dgm:t>
    </dgm:pt>
    <dgm:pt modelId="{2C8C752C-8172-4D24-AD88-93C514981994}" type="sibTrans" cxnId="{AEEA1E79-FBA7-4FC3-A44E-440B080E9385}">
      <dgm:prSet/>
      <dgm:spPr/>
      <dgm:t>
        <a:bodyPr/>
        <a:lstStyle/>
        <a:p>
          <a:endParaRPr lang="en-US"/>
        </a:p>
      </dgm:t>
    </dgm:pt>
    <dgm:pt modelId="{148D4FEE-CF1B-432E-B008-6493A8474891}">
      <dgm:prSet phldrT="[Text]" phldr="0"/>
      <dgm:spPr/>
      <dgm:t>
        <a:bodyPr/>
        <a:lstStyle/>
        <a:p>
          <a:r>
            <a:rPr lang="en-US" dirty="0"/>
            <a:t>Add </a:t>
          </a:r>
          <a:r>
            <a:rPr lang="en-US" dirty="0" err="1"/>
            <a:t>addiction_level</a:t>
          </a:r>
          <a:endParaRPr lang="en-US" dirty="0"/>
        </a:p>
      </dgm:t>
    </dgm:pt>
    <dgm:pt modelId="{23A56823-DEFD-43BE-9E00-3F1C331B68FA}" type="parTrans" cxnId="{B580E0F3-6891-49A6-A883-DE408338ACBC}">
      <dgm:prSet/>
      <dgm:spPr/>
      <dgm:t>
        <a:bodyPr/>
        <a:lstStyle/>
        <a:p>
          <a:endParaRPr lang="en-US"/>
        </a:p>
      </dgm:t>
    </dgm:pt>
    <dgm:pt modelId="{3015DCDB-6631-4236-97BD-D38D839BB33B}" type="sibTrans" cxnId="{B580E0F3-6891-49A6-A883-DE408338ACBC}">
      <dgm:prSet/>
      <dgm:spPr/>
      <dgm:t>
        <a:bodyPr/>
        <a:lstStyle/>
        <a:p>
          <a:endParaRPr lang="en-US"/>
        </a:p>
      </dgm:t>
    </dgm:pt>
    <dgm:pt modelId="{593F45D7-DDFD-40EA-8BD6-EA1927CCCD8A}">
      <dgm:prSet/>
      <dgm:spPr/>
      <dgm:t>
        <a:bodyPr/>
        <a:lstStyle/>
        <a:p>
          <a:r>
            <a:rPr lang="en-US" dirty="0"/>
            <a:t>Stepwise selection (reduced model)</a:t>
          </a:r>
        </a:p>
      </dgm:t>
    </dgm:pt>
    <dgm:pt modelId="{CF43478D-4F48-4E4D-9DF2-482DE76E660B}" type="parTrans" cxnId="{D1395E9B-9DF0-4D14-89EA-956F750EE700}">
      <dgm:prSet/>
      <dgm:spPr/>
      <dgm:t>
        <a:bodyPr/>
        <a:lstStyle/>
        <a:p>
          <a:endParaRPr lang="en-US"/>
        </a:p>
      </dgm:t>
    </dgm:pt>
    <dgm:pt modelId="{41BC9D49-2069-47C5-8288-3FEFEBC7A5EC}" type="sibTrans" cxnId="{D1395E9B-9DF0-4D14-89EA-956F750EE700}">
      <dgm:prSet/>
      <dgm:spPr/>
      <dgm:t>
        <a:bodyPr/>
        <a:lstStyle/>
        <a:p>
          <a:endParaRPr lang="en-US"/>
        </a:p>
      </dgm:t>
    </dgm:pt>
    <dgm:pt modelId="{40E90838-B7B5-4788-B4E6-DB65DFFB10CF}">
      <dgm:prSet/>
      <dgm:spPr/>
      <dgm:t>
        <a:bodyPr/>
        <a:lstStyle/>
        <a:p>
          <a:r>
            <a:rPr lang="en-US" dirty="0"/>
            <a:t>Second Order Terms</a:t>
          </a:r>
        </a:p>
      </dgm:t>
    </dgm:pt>
    <dgm:pt modelId="{DE4734F5-B477-46E4-B739-626962BE2058}" type="parTrans" cxnId="{D4985C42-958D-4F9D-92F1-28FB6469C3AA}">
      <dgm:prSet/>
      <dgm:spPr/>
      <dgm:t>
        <a:bodyPr/>
        <a:lstStyle/>
        <a:p>
          <a:endParaRPr lang="en-US"/>
        </a:p>
      </dgm:t>
    </dgm:pt>
    <dgm:pt modelId="{C09500C6-0A3C-437A-BF96-CDC8FB314C6F}" type="sibTrans" cxnId="{D4985C42-958D-4F9D-92F1-28FB6469C3AA}">
      <dgm:prSet/>
      <dgm:spPr/>
      <dgm:t>
        <a:bodyPr/>
        <a:lstStyle/>
        <a:p>
          <a:endParaRPr lang="en-US"/>
        </a:p>
      </dgm:t>
    </dgm:pt>
    <dgm:pt modelId="{4AC4B3EB-6C67-49F2-9057-8B5CBEE894D6}">
      <dgm:prSet/>
      <dgm:spPr/>
      <dgm:t>
        <a:bodyPr/>
        <a:lstStyle/>
        <a:p>
          <a:r>
            <a:rPr lang="en-US" dirty="0"/>
            <a:t>Interaction Terms</a:t>
          </a:r>
        </a:p>
      </dgm:t>
    </dgm:pt>
    <dgm:pt modelId="{9C2DC1BE-0F16-4819-A236-7491A7E8D34E}" type="parTrans" cxnId="{2B8B27CD-7DAA-49B8-856A-D98910E82DA7}">
      <dgm:prSet/>
      <dgm:spPr/>
      <dgm:t>
        <a:bodyPr/>
        <a:lstStyle/>
        <a:p>
          <a:endParaRPr lang="en-US"/>
        </a:p>
      </dgm:t>
    </dgm:pt>
    <dgm:pt modelId="{5FE6DB32-3685-4C3F-AEBD-26665A9D3A90}" type="sibTrans" cxnId="{2B8B27CD-7DAA-49B8-856A-D98910E82DA7}">
      <dgm:prSet/>
      <dgm:spPr/>
      <dgm:t>
        <a:bodyPr/>
        <a:lstStyle/>
        <a:p>
          <a:endParaRPr lang="en-US"/>
        </a:p>
      </dgm:t>
    </dgm:pt>
    <dgm:pt modelId="{7616AD60-7B03-4106-A8D6-C938C5F52270}" type="pres">
      <dgm:prSet presAssocID="{64656103-9261-4B79-BE38-134094516887}" presName="Name0" presStyleCnt="0">
        <dgm:presLayoutVars>
          <dgm:dir/>
          <dgm:resizeHandles val="exact"/>
        </dgm:presLayoutVars>
      </dgm:prSet>
      <dgm:spPr/>
    </dgm:pt>
    <dgm:pt modelId="{385CDC5B-0653-4478-A7BA-7FC4258FA292}" type="pres">
      <dgm:prSet presAssocID="{5AC744D6-4BC3-4E64-AFA7-8B326850F784}" presName="node" presStyleLbl="node1" presStyleIdx="0" presStyleCnt="5" custScaleX="121000" custScaleY="121000">
        <dgm:presLayoutVars>
          <dgm:bulletEnabled val="1"/>
        </dgm:presLayoutVars>
      </dgm:prSet>
      <dgm:spPr/>
    </dgm:pt>
    <dgm:pt modelId="{EE5D2E69-F5FB-42BF-BAD9-EAB7CEAC4513}" type="pres">
      <dgm:prSet presAssocID="{2C8C752C-8172-4D24-AD88-93C514981994}" presName="sibTrans" presStyleLbl="sibTrans2D1" presStyleIdx="0" presStyleCnt="4"/>
      <dgm:spPr/>
    </dgm:pt>
    <dgm:pt modelId="{1F36639E-0BCE-46F3-8B12-20EEF882096A}" type="pres">
      <dgm:prSet presAssocID="{2C8C752C-8172-4D24-AD88-93C514981994}" presName="connectorText" presStyleLbl="sibTrans2D1" presStyleIdx="0" presStyleCnt="4"/>
      <dgm:spPr/>
    </dgm:pt>
    <dgm:pt modelId="{6A0432D9-C1E8-4547-A73F-6D0179DF6190}" type="pres">
      <dgm:prSet presAssocID="{148D4FEE-CF1B-432E-B008-6493A8474891}" presName="node" presStyleLbl="node1" presStyleIdx="1" presStyleCnt="5" custScaleX="121000" custScaleY="121000">
        <dgm:presLayoutVars>
          <dgm:bulletEnabled val="1"/>
        </dgm:presLayoutVars>
      </dgm:prSet>
      <dgm:spPr/>
    </dgm:pt>
    <dgm:pt modelId="{A2DD458E-10A8-47F0-BCD1-E7B86D98AC93}" type="pres">
      <dgm:prSet presAssocID="{3015DCDB-6631-4236-97BD-D38D839BB33B}" presName="sibTrans" presStyleLbl="sibTrans2D1" presStyleIdx="1" presStyleCnt="4"/>
      <dgm:spPr/>
    </dgm:pt>
    <dgm:pt modelId="{EDFE3158-3899-4AEF-8687-1325F019068D}" type="pres">
      <dgm:prSet presAssocID="{3015DCDB-6631-4236-97BD-D38D839BB33B}" presName="connectorText" presStyleLbl="sibTrans2D1" presStyleIdx="1" presStyleCnt="4"/>
      <dgm:spPr/>
    </dgm:pt>
    <dgm:pt modelId="{3D51A176-BE25-4BFC-B48F-8F78B3F60300}" type="pres">
      <dgm:prSet presAssocID="{593F45D7-DDFD-40EA-8BD6-EA1927CCCD8A}" presName="node" presStyleLbl="node1" presStyleIdx="2" presStyleCnt="5" custScaleX="124814" custScaleY="128752">
        <dgm:presLayoutVars>
          <dgm:bulletEnabled val="1"/>
        </dgm:presLayoutVars>
      </dgm:prSet>
      <dgm:spPr/>
    </dgm:pt>
    <dgm:pt modelId="{37E95678-4AA6-4B73-9775-67BBEC9804D2}" type="pres">
      <dgm:prSet presAssocID="{41BC9D49-2069-47C5-8288-3FEFEBC7A5EC}" presName="sibTrans" presStyleLbl="sibTrans2D1" presStyleIdx="2" presStyleCnt="4"/>
      <dgm:spPr/>
    </dgm:pt>
    <dgm:pt modelId="{6460EDFF-D9F9-4312-9D55-479F951869A7}" type="pres">
      <dgm:prSet presAssocID="{41BC9D49-2069-47C5-8288-3FEFEBC7A5EC}" presName="connectorText" presStyleLbl="sibTrans2D1" presStyleIdx="2" presStyleCnt="4"/>
      <dgm:spPr/>
    </dgm:pt>
    <dgm:pt modelId="{AC2F005E-ED9C-4BDC-804C-A977A72AEE1C}" type="pres">
      <dgm:prSet presAssocID="{40E90838-B7B5-4788-B4E6-DB65DFFB10CF}" presName="node" presStyleLbl="node1" presStyleIdx="3" presStyleCnt="5" custScaleX="121000" custScaleY="121000">
        <dgm:presLayoutVars>
          <dgm:bulletEnabled val="1"/>
        </dgm:presLayoutVars>
      </dgm:prSet>
      <dgm:spPr/>
    </dgm:pt>
    <dgm:pt modelId="{FCE27C58-EE84-4C20-9879-F1F36221FB7C}" type="pres">
      <dgm:prSet presAssocID="{C09500C6-0A3C-437A-BF96-CDC8FB314C6F}" presName="sibTrans" presStyleLbl="sibTrans2D1" presStyleIdx="3" presStyleCnt="4"/>
      <dgm:spPr/>
    </dgm:pt>
    <dgm:pt modelId="{7BA11787-189E-4D1F-9E38-448125F844CC}" type="pres">
      <dgm:prSet presAssocID="{C09500C6-0A3C-437A-BF96-CDC8FB314C6F}" presName="connectorText" presStyleLbl="sibTrans2D1" presStyleIdx="3" presStyleCnt="4"/>
      <dgm:spPr/>
    </dgm:pt>
    <dgm:pt modelId="{CB418F5E-B5C0-44E7-B2DC-12F2BFC0BD8E}" type="pres">
      <dgm:prSet presAssocID="{4AC4B3EB-6C67-49F2-9057-8B5CBEE894D6}" presName="node" presStyleLbl="node1" presStyleIdx="4" presStyleCnt="5" custScaleX="121000" custScaleY="121000">
        <dgm:presLayoutVars>
          <dgm:bulletEnabled val="1"/>
        </dgm:presLayoutVars>
      </dgm:prSet>
      <dgm:spPr/>
    </dgm:pt>
  </dgm:ptLst>
  <dgm:cxnLst>
    <dgm:cxn modelId="{E6C79513-3023-4810-990F-639EF106DE6C}" type="presOf" srcId="{3015DCDB-6631-4236-97BD-D38D839BB33B}" destId="{EDFE3158-3899-4AEF-8687-1325F019068D}" srcOrd="1" destOrd="0" presId="urn:microsoft.com/office/officeart/2005/8/layout/process1"/>
    <dgm:cxn modelId="{8AF9FD1B-D19C-4A30-BBF7-1216F0695878}" type="presOf" srcId="{3015DCDB-6631-4236-97BD-D38D839BB33B}" destId="{A2DD458E-10A8-47F0-BCD1-E7B86D98AC93}" srcOrd="0" destOrd="0" presId="urn:microsoft.com/office/officeart/2005/8/layout/process1"/>
    <dgm:cxn modelId="{12773C22-77FC-4808-A455-E166C2BBA869}" type="presOf" srcId="{41BC9D49-2069-47C5-8288-3FEFEBC7A5EC}" destId="{6460EDFF-D9F9-4312-9D55-479F951869A7}" srcOrd="1" destOrd="0" presId="urn:microsoft.com/office/officeart/2005/8/layout/process1"/>
    <dgm:cxn modelId="{875FA127-7A99-4A01-8E84-B72A7211E081}" type="presOf" srcId="{C09500C6-0A3C-437A-BF96-CDC8FB314C6F}" destId="{7BA11787-189E-4D1F-9E38-448125F844CC}" srcOrd="1" destOrd="0" presId="urn:microsoft.com/office/officeart/2005/8/layout/process1"/>
    <dgm:cxn modelId="{3A6AF63D-D9A3-4E69-81BA-2825B36B1972}" type="presOf" srcId="{2C8C752C-8172-4D24-AD88-93C514981994}" destId="{EE5D2E69-F5FB-42BF-BAD9-EAB7CEAC4513}" srcOrd="0" destOrd="0" presId="urn:microsoft.com/office/officeart/2005/8/layout/process1"/>
    <dgm:cxn modelId="{D4985C42-958D-4F9D-92F1-28FB6469C3AA}" srcId="{64656103-9261-4B79-BE38-134094516887}" destId="{40E90838-B7B5-4788-B4E6-DB65DFFB10CF}" srcOrd="3" destOrd="0" parTransId="{DE4734F5-B477-46E4-B739-626962BE2058}" sibTransId="{C09500C6-0A3C-437A-BF96-CDC8FB314C6F}"/>
    <dgm:cxn modelId="{65944766-B489-4C35-B9BE-C90387B16749}" type="presOf" srcId="{4AC4B3EB-6C67-49F2-9057-8B5CBEE894D6}" destId="{CB418F5E-B5C0-44E7-B2DC-12F2BFC0BD8E}" srcOrd="0" destOrd="0" presId="urn:microsoft.com/office/officeart/2005/8/layout/process1"/>
    <dgm:cxn modelId="{C3907273-8D34-4DA2-B379-EBFEE8A2D89C}" type="presOf" srcId="{64656103-9261-4B79-BE38-134094516887}" destId="{7616AD60-7B03-4106-A8D6-C938C5F52270}" srcOrd="0" destOrd="0" presId="urn:microsoft.com/office/officeart/2005/8/layout/process1"/>
    <dgm:cxn modelId="{AEEA1E79-FBA7-4FC3-A44E-440B080E9385}" srcId="{64656103-9261-4B79-BE38-134094516887}" destId="{5AC744D6-4BC3-4E64-AFA7-8B326850F784}" srcOrd="0" destOrd="0" parTransId="{976B96D6-43E5-4152-8E68-A978381F6A2C}" sibTransId="{2C8C752C-8172-4D24-AD88-93C514981994}"/>
    <dgm:cxn modelId="{459ECD81-4030-4169-AAF7-D7D706CE51CC}" type="presOf" srcId="{5AC744D6-4BC3-4E64-AFA7-8B326850F784}" destId="{385CDC5B-0653-4478-A7BA-7FC4258FA292}" srcOrd="0" destOrd="0" presId="urn:microsoft.com/office/officeart/2005/8/layout/process1"/>
    <dgm:cxn modelId="{A7C59182-2415-4F7A-B78B-2AD6FC1E61AE}" type="presOf" srcId="{593F45D7-DDFD-40EA-8BD6-EA1927CCCD8A}" destId="{3D51A176-BE25-4BFC-B48F-8F78B3F60300}" srcOrd="0" destOrd="0" presId="urn:microsoft.com/office/officeart/2005/8/layout/process1"/>
    <dgm:cxn modelId="{D1395E9B-9DF0-4D14-89EA-956F750EE700}" srcId="{64656103-9261-4B79-BE38-134094516887}" destId="{593F45D7-DDFD-40EA-8BD6-EA1927CCCD8A}" srcOrd="2" destOrd="0" parTransId="{CF43478D-4F48-4E4D-9DF2-482DE76E660B}" sibTransId="{41BC9D49-2069-47C5-8288-3FEFEBC7A5EC}"/>
    <dgm:cxn modelId="{616015A7-DF25-4FE4-8DCA-9D078B672C77}" type="presOf" srcId="{2C8C752C-8172-4D24-AD88-93C514981994}" destId="{1F36639E-0BCE-46F3-8B12-20EEF882096A}" srcOrd="1" destOrd="0" presId="urn:microsoft.com/office/officeart/2005/8/layout/process1"/>
    <dgm:cxn modelId="{F3E147B8-4F15-402D-9521-5DF32E6C40A9}" type="presOf" srcId="{148D4FEE-CF1B-432E-B008-6493A8474891}" destId="{6A0432D9-C1E8-4547-A73F-6D0179DF6190}" srcOrd="0" destOrd="0" presId="urn:microsoft.com/office/officeart/2005/8/layout/process1"/>
    <dgm:cxn modelId="{9DC13EC9-4EF5-4E4C-A9EF-71C5F3688A9D}" type="presOf" srcId="{40E90838-B7B5-4788-B4E6-DB65DFFB10CF}" destId="{AC2F005E-ED9C-4BDC-804C-A977A72AEE1C}" srcOrd="0" destOrd="0" presId="urn:microsoft.com/office/officeart/2005/8/layout/process1"/>
    <dgm:cxn modelId="{2B8B27CD-7DAA-49B8-856A-D98910E82DA7}" srcId="{64656103-9261-4B79-BE38-134094516887}" destId="{4AC4B3EB-6C67-49F2-9057-8B5CBEE894D6}" srcOrd="4" destOrd="0" parTransId="{9C2DC1BE-0F16-4819-A236-7491A7E8D34E}" sibTransId="{5FE6DB32-3685-4C3F-AEBD-26665A9D3A90}"/>
    <dgm:cxn modelId="{FD06B4CF-9B1B-4F3C-903B-C062FD37590E}" type="presOf" srcId="{41BC9D49-2069-47C5-8288-3FEFEBC7A5EC}" destId="{37E95678-4AA6-4B73-9775-67BBEC9804D2}" srcOrd="0" destOrd="0" presId="urn:microsoft.com/office/officeart/2005/8/layout/process1"/>
    <dgm:cxn modelId="{0D3B43DA-5CB4-4111-9B3A-632FA646BF8D}" type="presOf" srcId="{C09500C6-0A3C-437A-BF96-CDC8FB314C6F}" destId="{FCE27C58-EE84-4C20-9879-F1F36221FB7C}" srcOrd="0" destOrd="0" presId="urn:microsoft.com/office/officeart/2005/8/layout/process1"/>
    <dgm:cxn modelId="{B580E0F3-6891-49A6-A883-DE408338ACBC}" srcId="{64656103-9261-4B79-BE38-134094516887}" destId="{148D4FEE-CF1B-432E-B008-6493A8474891}" srcOrd="1" destOrd="0" parTransId="{23A56823-DEFD-43BE-9E00-3F1C331B68FA}" sibTransId="{3015DCDB-6631-4236-97BD-D38D839BB33B}"/>
    <dgm:cxn modelId="{32122A4B-FB00-47BC-B835-A4AF059A3716}" type="presParOf" srcId="{7616AD60-7B03-4106-A8D6-C938C5F52270}" destId="{385CDC5B-0653-4478-A7BA-7FC4258FA292}" srcOrd="0" destOrd="0" presId="urn:microsoft.com/office/officeart/2005/8/layout/process1"/>
    <dgm:cxn modelId="{F748A8F1-AB2C-443B-B0DB-1396B3062446}" type="presParOf" srcId="{7616AD60-7B03-4106-A8D6-C938C5F52270}" destId="{EE5D2E69-F5FB-42BF-BAD9-EAB7CEAC4513}" srcOrd="1" destOrd="0" presId="urn:microsoft.com/office/officeart/2005/8/layout/process1"/>
    <dgm:cxn modelId="{5E1F68E2-9014-421E-89A6-1741F0C4E65E}" type="presParOf" srcId="{EE5D2E69-F5FB-42BF-BAD9-EAB7CEAC4513}" destId="{1F36639E-0BCE-46F3-8B12-20EEF882096A}" srcOrd="0" destOrd="0" presId="urn:microsoft.com/office/officeart/2005/8/layout/process1"/>
    <dgm:cxn modelId="{B68BC0D5-1A40-4763-A7F0-AED4DCB90E07}" type="presParOf" srcId="{7616AD60-7B03-4106-A8D6-C938C5F52270}" destId="{6A0432D9-C1E8-4547-A73F-6D0179DF6190}" srcOrd="2" destOrd="0" presId="urn:microsoft.com/office/officeart/2005/8/layout/process1"/>
    <dgm:cxn modelId="{568A8D7D-FC8C-42B5-9D6A-2C521000C28E}" type="presParOf" srcId="{7616AD60-7B03-4106-A8D6-C938C5F52270}" destId="{A2DD458E-10A8-47F0-BCD1-E7B86D98AC93}" srcOrd="3" destOrd="0" presId="urn:microsoft.com/office/officeart/2005/8/layout/process1"/>
    <dgm:cxn modelId="{14E0C7B9-B470-41E9-83B5-F6317DBB0364}" type="presParOf" srcId="{A2DD458E-10A8-47F0-BCD1-E7B86D98AC93}" destId="{EDFE3158-3899-4AEF-8687-1325F019068D}" srcOrd="0" destOrd="0" presId="urn:microsoft.com/office/officeart/2005/8/layout/process1"/>
    <dgm:cxn modelId="{7844D171-C820-40FC-8AFB-7C75F89194CD}" type="presParOf" srcId="{7616AD60-7B03-4106-A8D6-C938C5F52270}" destId="{3D51A176-BE25-4BFC-B48F-8F78B3F60300}" srcOrd="4" destOrd="0" presId="urn:microsoft.com/office/officeart/2005/8/layout/process1"/>
    <dgm:cxn modelId="{43BC5850-F8BE-4523-BD6E-49062FD7BB24}" type="presParOf" srcId="{7616AD60-7B03-4106-A8D6-C938C5F52270}" destId="{37E95678-4AA6-4B73-9775-67BBEC9804D2}" srcOrd="5" destOrd="0" presId="urn:microsoft.com/office/officeart/2005/8/layout/process1"/>
    <dgm:cxn modelId="{EFB3F7A9-F9F7-400D-8B56-8AEACA6CDD3E}" type="presParOf" srcId="{37E95678-4AA6-4B73-9775-67BBEC9804D2}" destId="{6460EDFF-D9F9-4312-9D55-479F951869A7}" srcOrd="0" destOrd="0" presId="urn:microsoft.com/office/officeart/2005/8/layout/process1"/>
    <dgm:cxn modelId="{3C822480-992D-4937-9E1D-C4147F2A3250}" type="presParOf" srcId="{7616AD60-7B03-4106-A8D6-C938C5F52270}" destId="{AC2F005E-ED9C-4BDC-804C-A977A72AEE1C}" srcOrd="6" destOrd="0" presId="urn:microsoft.com/office/officeart/2005/8/layout/process1"/>
    <dgm:cxn modelId="{AFAD5A08-66A2-4A11-8EF0-69FC32389DED}" type="presParOf" srcId="{7616AD60-7B03-4106-A8D6-C938C5F52270}" destId="{FCE27C58-EE84-4C20-9879-F1F36221FB7C}" srcOrd="7" destOrd="0" presId="urn:microsoft.com/office/officeart/2005/8/layout/process1"/>
    <dgm:cxn modelId="{823FF271-1867-4942-BA1E-26A16F7FBEB5}" type="presParOf" srcId="{FCE27C58-EE84-4C20-9879-F1F36221FB7C}" destId="{7BA11787-189E-4D1F-9E38-448125F844CC}" srcOrd="0" destOrd="0" presId="urn:microsoft.com/office/officeart/2005/8/layout/process1"/>
    <dgm:cxn modelId="{8A8EA0C6-EFD3-4B7D-94D0-E706C2A27EC4}" type="presParOf" srcId="{7616AD60-7B03-4106-A8D6-C938C5F52270}" destId="{CB418F5E-B5C0-44E7-B2DC-12F2BFC0BD8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5CDC5B-0653-4478-A7BA-7FC4258FA292}">
      <dsp:nvSpPr>
        <dsp:cNvPr id="0" name=""/>
        <dsp:cNvSpPr/>
      </dsp:nvSpPr>
      <dsp:spPr>
        <a:xfrm>
          <a:off x="6683" y="1197592"/>
          <a:ext cx="1456130" cy="91463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5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All </a:t>
          </a:r>
          <a:r>
            <a:rPr lang="en-US" sz="1300" kern="1200" dirty="0" err="1"/>
            <a:t>quantitatave</a:t>
          </a:r>
          <a:r>
            <a:rPr lang="en-US" sz="1300" kern="1200" dirty="0"/>
            <a:t> predictors</a:t>
          </a:r>
        </a:p>
      </dsp:txBody>
      <dsp:txXfrm>
        <a:off x="33472" y="1224381"/>
        <a:ext cx="1402552" cy="861053"/>
      </dsp:txXfrm>
    </dsp:sp>
    <dsp:sp modelId="{EE5D2E69-F5FB-42BF-BAD9-EAB7CEAC4513}">
      <dsp:nvSpPr>
        <dsp:cNvPr id="0" name=""/>
        <dsp:cNvSpPr/>
      </dsp:nvSpPr>
      <dsp:spPr>
        <a:xfrm>
          <a:off x="1583155" y="1505684"/>
          <a:ext cx="255123" cy="2984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9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83155" y="1565373"/>
        <a:ext cx="178586" cy="179068"/>
      </dsp:txXfrm>
    </dsp:sp>
    <dsp:sp modelId="{6A0432D9-C1E8-4547-A73F-6D0179DF6190}">
      <dsp:nvSpPr>
        <dsp:cNvPr id="0" name=""/>
        <dsp:cNvSpPr/>
      </dsp:nvSpPr>
      <dsp:spPr>
        <a:xfrm>
          <a:off x="1944179" y="1197592"/>
          <a:ext cx="1456130" cy="91463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-462"/>
            <a:lumOff val="17702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50000"/>
              <a:hueOff val="0"/>
              <a:satOff val="-462"/>
              <a:lumOff val="17702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Add </a:t>
          </a:r>
          <a:r>
            <a:rPr lang="en-US" sz="1300" kern="1200" dirty="0" err="1"/>
            <a:t>addiction_level</a:t>
          </a:r>
          <a:endParaRPr lang="en-US" sz="1300" kern="1200" dirty="0"/>
        </a:p>
      </dsp:txBody>
      <dsp:txXfrm>
        <a:off x="1970968" y="1224381"/>
        <a:ext cx="1402552" cy="861053"/>
      </dsp:txXfrm>
    </dsp:sp>
    <dsp:sp modelId="{A2DD458E-10A8-47F0-BCD1-E7B86D98AC93}">
      <dsp:nvSpPr>
        <dsp:cNvPr id="0" name=""/>
        <dsp:cNvSpPr/>
      </dsp:nvSpPr>
      <dsp:spPr>
        <a:xfrm>
          <a:off x="3520651" y="1505684"/>
          <a:ext cx="255123" cy="2984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-552"/>
            <a:lumOff val="1821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90000"/>
              <a:hueOff val="0"/>
              <a:satOff val="-552"/>
              <a:lumOff val="1821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520651" y="1565373"/>
        <a:ext cx="178586" cy="179068"/>
      </dsp:txXfrm>
    </dsp:sp>
    <dsp:sp modelId="{3D51A176-BE25-4BFC-B48F-8F78B3F60300}">
      <dsp:nvSpPr>
        <dsp:cNvPr id="0" name=""/>
        <dsp:cNvSpPr/>
      </dsp:nvSpPr>
      <dsp:spPr>
        <a:xfrm>
          <a:off x="3881675" y="1168293"/>
          <a:ext cx="1502028" cy="973228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-925"/>
            <a:lumOff val="35404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50000"/>
              <a:hueOff val="0"/>
              <a:satOff val="-925"/>
              <a:lumOff val="35404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Stepwise selection (reduced model)</a:t>
          </a:r>
        </a:p>
      </dsp:txBody>
      <dsp:txXfrm>
        <a:off x="3910180" y="1196798"/>
        <a:ext cx="1445018" cy="916218"/>
      </dsp:txXfrm>
    </dsp:sp>
    <dsp:sp modelId="{37E95678-4AA6-4B73-9775-67BBEC9804D2}">
      <dsp:nvSpPr>
        <dsp:cNvPr id="0" name=""/>
        <dsp:cNvSpPr/>
      </dsp:nvSpPr>
      <dsp:spPr>
        <a:xfrm>
          <a:off x="5504045" y="1505684"/>
          <a:ext cx="255123" cy="2984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-1103"/>
            <a:lumOff val="36421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90000"/>
              <a:hueOff val="0"/>
              <a:satOff val="-1103"/>
              <a:lumOff val="36421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504045" y="1565373"/>
        <a:ext cx="178586" cy="179068"/>
      </dsp:txXfrm>
    </dsp:sp>
    <dsp:sp modelId="{AC2F005E-ED9C-4BDC-804C-A977A72AEE1C}">
      <dsp:nvSpPr>
        <dsp:cNvPr id="0" name=""/>
        <dsp:cNvSpPr/>
      </dsp:nvSpPr>
      <dsp:spPr>
        <a:xfrm>
          <a:off x="5865069" y="1197592"/>
          <a:ext cx="1456130" cy="91463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-925"/>
            <a:lumOff val="35404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50000"/>
              <a:hueOff val="0"/>
              <a:satOff val="-925"/>
              <a:lumOff val="35404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Second Order Terms</a:t>
          </a:r>
        </a:p>
      </dsp:txBody>
      <dsp:txXfrm>
        <a:off x="5891858" y="1224381"/>
        <a:ext cx="1402552" cy="861053"/>
      </dsp:txXfrm>
    </dsp:sp>
    <dsp:sp modelId="{FCE27C58-EE84-4C20-9879-F1F36221FB7C}">
      <dsp:nvSpPr>
        <dsp:cNvPr id="0" name=""/>
        <dsp:cNvSpPr/>
      </dsp:nvSpPr>
      <dsp:spPr>
        <a:xfrm>
          <a:off x="7441541" y="1505684"/>
          <a:ext cx="255123" cy="2984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-552"/>
            <a:lumOff val="1821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90000"/>
              <a:hueOff val="0"/>
              <a:satOff val="-552"/>
              <a:lumOff val="1821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441541" y="1565373"/>
        <a:ext cx="178586" cy="179068"/>
      </dsp:txXfrm>
    </dsp:sp>
    <dsp:sp modelId="{CB418F5E-B5C0-44E7-B2DC-12F2BFC0BD8E}">
      <dsp:nvSpPr>
        <dsp:cNvPr id="0" name=""/>
        <dsp:cNvSpPr/>
      </dsp:nvSpPr>
      <dsp:spPr>
        <a:xfrm>
          <a:off x="7802565" y="1197592"/>
          <a:ext cx="1456130" cy="91463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-462"/>
            <a:lumOff val="17702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1">
              <a:shade val="50000"/>
              <a:hueOff val="0"/>
              <a:satOff val="-462"/>
              <a:lumOff val="17702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Interaction Terms</a:t>
          </a:r>
        </a:p>
      </dsp:txBody>
      <dsp:txXfrm>
        <a:off x="7829354" y="1224381"/>
        <a:ext cx="1402552" cy="861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54728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7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081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5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8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9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1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3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0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77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83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158F610-DC2E-4EB1-A8F1-0680C318039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34DCB84-47C8-4601-AECF-23BA3EC0F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5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6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8FEB-3646-4241-D8AF-FB4740E8E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An Analysis of the Effect of Social Media Use on Productivity</a:t>
            </a:r>
            <a:r>
              <a:rPr lang="en-US" sz="6000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FF556-26EF-2157-7C42-F7F47DBC3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Henry Likness</a:t>
            </a:r>
          </a:p>
        </p:txBody>
      </p:sp>
    </p:spTree>
    <p:extLst>
      <p:ext uri="{BB962C8B-B14F-4D97-AF65-F5344CB8AC3E}">
        <p14:creationId xmlns:p14="http://schemas.microsoft.com/office/powerpoint/2010/main" val="292169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A0D6-3B1C-A02D-1741-246C4BC3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98" y="399186"/>
            <a:ext cx="9692640" cy="910845"/>
          </a:xfrm>
        </p:spPr>
        <p:txBody>
          <a:bodyPr/>
          <a:lstStyle/>
          <a:p>
            <a:r>
              <a:rPr lang="en-US" dirty="0"/>
              <a:t>My Research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40CF9-76E5-A52F-5A7C-22A8DFEAD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2405" y="1487075"/>
            <a:ext cx="6983426" cy="1021453"/>
          </a:xfrm>
        </p:spPr>
        <p:txBody>
          <a:bodyPr>
            <a:noAutofit/>
          </a:bodyPr>
          <a:lstStyle/>
          <a:p>
            <a:r>
              <a:rPr lang="en-US" sz="2400" dirty="0"/>
              <a:t>Does social media use have a stronger negative effect on productivity than screen time alone?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4D45C-8D05-2DF7-CF0E-350562F39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7798" y="2895968"/>
            <a:ext cx="4480560" cy="36646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it matters?</a:t>
            </a:r>
          </a:p>
          <a:p>
            <a:pPr marL="0" indent="0">
              <a:buNone/>
            </a:pPr>
            <a:r>
              <a:rPr lang="en-US" dirty="0"/>
              <a:t>Productivity is important for students, professionals, and really everyone else.</a:t>
            </a:r>
          </a:p>
          <a:p>
            <a:pPr marL="0" indent="0">
              <a:buNone/>
            </a:pPr>
            <a:r>
              <a:rPr lang="en-US" dirty="0"/>
              <a:t>Social media use is growing rapidly, so knowing it’s effect on productivity is key for future generations.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8005F-87E6-E68B-39FA-321AB0922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8192" y="2895968"/>
            <a:ext cx="4480560" cy="36646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Approach</a:t>
            </a:r>
          </a:p>
          <a:p>
            <a:pPr marL="0" indent="0">
              <a:buNone/>
            </a:pPr>
            <a:r>
              <a:rPr lang="en-US" dirty="0"/>
              <a:t>We will analyze a large productivity survey from Kaggle with multiple regression, using model building techniques discussed in STAT 311.</a:t>
            </a:r>
          </a:p>
        </p:txBody>
      </p:sp>
    </p:spTree>
    <p:extLst>
      <p:ext uri="{BB962C8B-B14F-4D97-AF65-F5344CB8AC3E}">
        <p14:creationId xmlns:p14="http://schemas.microsoft.com/office/powerpoint/2010/main" val="236133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BAAF-3ABE-0525-6C08-71B3C848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9A873-DBE1-32EE-15B8-4D8DA7E1F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328483"/>
            <a:ext cx="2784146" cy="1100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6,000 </a:t>
            </a:r>
            <a:r>
              <a:rPr lang="en-US" sz="1400" b="1" dirty="0"/>
              <a:t>respondents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D5252B-EBA2-02E5-EED6-03DCB068DDB3}"/>
              </a:ext>
            </a:extLst>
          </p:cNvPr>
          <p:cNvSpPr txBox="1">
            <a:spLocks/>
          </p:cNvSpPr>
          <p:nvPr/>
        </p:nvSpPr>
        <p:spPr>
          <a:xfrm>
            <a:off x="1261871" y="3816069"/>
            <a:ext cx="3115919" cy="110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600" b="1" dirty="0"/>
              <a:t>4,982 </a:t>
            </a:r>
            <a:r>
              <a:rPr lang="en-US" sz="1400" b="1" dirty="0"/>
              <a:t>after cleaning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FC7A70-05D6-1B1E-3CEE-40880AA70A4C}"/>
              </a:ext>
            </a:extLst>
          </p:cNvPr>
          <p:cNvSpPr txBox="1">
            <a:spLocks/>
          </p:cNvSpPr>
          <p:nvPr/>
        </p:nvSpPr>
        <p:spPr>
          <a:xfrm>
            <a:off x="5597854" y="2328482"/>
            <a:ext cx="4047852" cy="4007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600" b="1" dirty="0"/>
              <a:t>Variables </a:t>
            </a:r>
            <a:endParaRPr lang="en-US" sz="1400" b="1" dirty="0"/>
          </a:p>
          <a:p>
            <a:pPr marL="0" indent="0">
              <a:buFont typeface="Arial" pitchFamily="34" charset="0"/>
              <a:buNone/>
            </a:pPr>
            <a:r>
              <a:rPr lang="en-US" sz="1600" b="1" dirty="0" err="1"/>
              <a:t>Productivity_score</a:t>
            </a:r>
            <a:r>
              <a:rPr lang="en-US" sz="1600" b="1" dirty="0"/>
              <a:t> (response 0-100)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 err="1"/>
              <a:t>Daily_screen_time</a:t>
            </a:r>
            <a:r>
              <a:rPr lang="en-US" sz="1600" dirty="0"/>
              <a:t>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 err="1"/>
              <a:t>Study_hours</a:t>
            </a:r>
            <a:endParaRPr lang="en-US" sz="1600" dirty="0"/>
          </a:p>
          <a:p>
            <a:pPr marL="0" indent="0">
              <a:buFont typeface="Arial" pitchFamily="34" charset="0"/>
              <a:buNone/>
            </a:pPr>
            <a:r>
              <a:rPr lang="en-US" sz="1600" dirty="0" err="1"/>
              <a:t>Sleep_hours</a:t>
            </a:r>
            <a:endParaRPr lang="en-US" sz="1600" dirty="0"/>
          </a:p>
          <a:p>
            <a:pPr marL="0" indent="0">
              <a:buFont typeface="Arial" pitchFamily="34" charset="0"/>
              <a:buNone/>
            </a:pPr>
            <a:r>
              <a:rPr lang="en-US" sz="1600" dirty="0" err="1"/>
              <a:t>Notifications_per_day</a:t>
            </a:r>
            <a:endParaRPr lang="en-US" sz="1600" dirty="0"/>
          </a:p>
          <a:p>
            <a:pPr marL="0" indent="0">
              <a:buFont typeface="Arial" pitchFamily="34" charset="0"/>
              <a:buNone/>
            </a:pPr>
            <a:r>
              <a:rPr lang="en-US" sz="1600" dirty="0" err="1"/>
              <a:t>Focus_score</a:t>
            </a:r>
            <a:endParaRPr lang="en-US" sz="1600" dirty="0"/>
          </a:p>
          <a:p>
            <a:pPr marL="0" indent="0">
              <a:buFont typeface="Arial" pitchFamily="34" charset="0"/>
              <a:buNone/>
            </a:pPr>
            <a:r>
              <a:rPr lang="en-US" sz="1600" dirty="0"/>
              <a:t>Age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/>
              <a:t>Addiction Level (Low/Med/High)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5C05D-3A80-530F-F8A6-DF891424798F}"/>
              </a:ext>
            </a:extLst>
          </p:cNvPr>
          <p:cNvSpPr txBox="1"/>
          <p:nvPr/>
        </p:nvSpPr>
        <p:spPr>
          <a:xfrm>
            <a:off x="1196218" y="5845909"/>
            <a:ext cx="3625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(self-reported survey)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24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97BC-C754-0AA7-B4D9-29DCB9A4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231D-9B9D-5A85-B571-E2598B2A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4573619"/>
            <a:ext cx="8595360" cy="1851457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productivity: </a:t>
            </a:r>
            <a:r>
              <a:rPr lang="en-US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+0.738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social_media_hours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productivity: </a:t>
            </a:r>
            <a:r>
              <a:rPr lang="en-US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−0.508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daily_screen_time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social_media_hours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+0.793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multicollinearity 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0A10CEE1-22A7-C3EB-EA5A-D9E43F10E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2" y="2181052"/>
            <a:ext cx="9007088" cy="1851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55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4B3D6-013A-1775-D1F8-AA55E3E0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3" y="362972"/>
            <a:ext cx="9692640" cy="1325562"/>
          </a:xfrm>
        </p:spPr>
        <p:txBody>
          <a:bodyPr/>
          <a:lstStyle/>
          <a:p>
            <a:r>
              <a:rPr lang="en-US" dirty="0"/>
              <a:t>Methods: Sequential Model Building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6043C3-294B-741A-FEB7-07E263B4C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282330"/>
              </p:ext>
            </p:extLst>
          </p:nvPr>
        </p:nvGraphicFramePr>
        <p:xfrm>
          <a:off x="1169496" y="1796432"/>
          <a:ext cx="9265380" cy="3309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 31">
            <a:extLst>
              <a:ext uri="{FF2B5EF4-FFF2-40B4-BE49-F238E27FC236}">
                <a16:creationId xmlns:a16="http://schemas.microsoft.com/office/drawing/2014/main" id="{ABA87E23-CE50-B7F3-1FB3-A8F7786FC4FB}"/>
              </a:ext>
            </a:extLst>
          </p:cNvPr>
          <p:cNvSpPr/>
          <p:nvPr/>
        </p:nvSpPr>
        <p:spPr>
          <a:xfrm>
            <a:off x="1557913" y="60326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Final Model validated with 80/20 train/test split</a:t>
            </a:r>
            <a:endParaRPr lang="en-US" sz="2800" b="1" dirty="0"/>
          </a:p>
        </p:txBody>
      </p:sp>
      <p:pic>
        <p:nvPicPr>
          <p:cNvPr id="9" name="Graphic 8" descr="Badge 1 outline">
            <a:extLst>
              <a:ext uri="{FF2B5EF4-FFF2-40B4-BE49-F238E27FC236}">
                <a16:creationId xmlns:a16="http://schemas.microsoft.com/office/drawing/2014/main" id="{8B1A8B60-97D4-1FAB-2D39-299B558FF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4758" y="3898164"/>
            <a:ext cx="825191" cy="825191"/>
          </a:xfrm>
          <a:prstGeom prst="rect">
            <a:avLst/>
          </a:prstGeom>
        </p:spPr>
      </p:pic>
      <p:pic>
        <p:nvPicPr>
          <p:cNvPr id="11" name="Graphic 10" descr="Badge outline">
            <a:extLst>
              <a:ext uri="{FF2B5EF4-FFF2-40B4-BE49-F238E27FC236}">
                <a16:creationId xmlns:a16="http://schemas.microsoft.com/office/drawing/2014/main" id="{DE15A381-E18E-B795-E0A6-5CA420C98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3647" y="3876382"/>
            <a:ext cx="825191" cy="825191"/>
          </a:xfrm>
          <a:prstGeom prst="rect">
            <a:avLst/>
          </a:prstGeom>
        </p:spPr>
      </p:pic>
      <p:pic>
        <p:nvPicPr>
          <p:cNvPr id="13" name="Graphic 12" descr="Badge 3 outline">
            <a:extLst>
              <a:ext uri="{FF2B5EF4-FFF2-40B4-BE49-F238E27FC236}">
                <a16:creationId xmlns:a16="http://schemas.microsoft.com/office/drawing/2014/main" id="{34A7A070-D791-06F4-9AAF-A08996DBA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2536" y="3898164"/>
            <a:ext cx="825191" cy="825191"/>
          </a:xfrm>
          <a:prstGeom prst="rect">
            <a:avLst/>
          </a:prstGeom>
        </p:spPr>
      </p:pic>
      <p:pic>
        <p:nvPicPr>
          <p:cNvPr id="15" name="Graphic 14" descr="Badge 4 outline">
            <a:extLst>
              <a:ext uri="{FF2B5EF4-FFF2-40B4-BE49-F238E27FC236}">
                <a16:creationId xmlns:a16="http://schemas.microsoft.com/office/drawing/2014/main" id="{C6BB014A-EAF2-F84E-3956-CFA705F6B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51425" y="3853559"/>
            <a:ext cx="825191" cy="825191"/>
          </a:xfrm>
          <a:prstGeom prst="rect">
            <a:avLst/>
          </a:prstGeom>
        </p:spPr>
      </p:pic>
      <p:pic>
        <p:nvPicPr>
          <p:cNvPr id="17" name="Graphic 16" descr="Badge 5 outline">
            <a:extLst>
              <a:ext uri="{FF2B5EF4-FFF2-40B4-BE49-F238E27FC236}">
                <a16:creationId xmlns:a16="http://schemas.microsoft.com/office/drawing/2014/main" id="{51F126A4-DE23-1624-0550-FF8679DC8C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0313" y="3876382"/>
            <a:ext cx="825191" cy="82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3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B3C1-1C9B-8D3C-43A5-A704CEB5A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en-US" dirty="0"/>
              <a:t>Testing our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A83CB-1C55-EEB7-59AD-40C18277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4954920" cy="3724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use Model 1 to try and answer our research question.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r>
              <a:rPr lang="en-US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4007, p &lt; 0.0001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</a:t>
            </a:r>
            <a:r>
              <a:rPr lang="en-US" b="1" dirty="0" err="1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0.065, p = 0.799  →  not significant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302421-4301-536F-957A-A150C8C1A3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46828" y="1445657"/>
            <a:ext cx="3973908" cy="1823322"/>
          </a:xfrm>
          <a:prstGeom prst="rect">
            <a:avLst/>
          </a:prstGeom>
        </p:spPr>
      </p:pic>
      <p:pic>
        <p:nvPicPr>
          <p:cNvPr id="4" name="Image 0" descr="extracted_images/image12.png">
            <a:extLst>
              <a:ext uri="{FF2B5EF4-FFF2-40B4-BE49-F238E27FC236}">
                <a16:creationId xmlns:a16="http://schemas.microsoft.com/office/drawing/2014/main" id="{48298EF3-8FDB-2C97-4233-D8EC5A8C8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28" y="3589021"/>
            <a:ext cx="3973908" cy="170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2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49109-A28F-7DF5-60E7-406EA891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7AB7C-16D9-87FD-E04A-8F5409DF8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639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further tune our model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EF325FA-5D2F-0A9E-63EF-8B5453EC7128}"/>
              </a:ext>
            </a:extLst>
          </p:cNvPr>
          <p:cNvSpPr/>
          <p:nvPr/>
        </p:nvSpPr>
        <p:spPr>
          <a:xfrm>
            <a:off x="1261872" y="2605549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2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7658024-5511-2A76-B284-21D5DEE04FEB}"/>
              </a:ext>
            </a:extLst>
          </p:cNvPr>
          <p:cNvSpPr/>
          <p:nvPr/>
        </p:nvSpPr>
        <p:spPr>
          <a:xfrm>
            <a:off x="1261872" y="2581273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social_media_hours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study_hours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sleep_hours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notifications_per_day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focus_score</a:t>
            </a:r>
            <a:endParaRPr lang="en-US" sz="1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8BE30D2-C7D0-229F-8519-9B6642D8733C}"/>
              </a:ext>
            </a:extLst>
          </p:cNvPr>
          <p:cNvSpPr/>
          <p:nvPr/>
        </p:nvSpPr>
        <p:spPr>
          <a:xfrm>
            <a:off x="5901116" y="258127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2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87A4FAF-E35E-909A-3847-BFE3B99B5E64}"/>
              </a:ext>
            </a:extLst>
          </p:cNvPr>
          <p:cNvSpPr/>
          <p:nvPr/>
        </p:nvSpPr>
        <p:spPr>
          <a:xfrm>
            <a:off x="5901116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(p = 0.7244)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daily_screen_time (p = 0.7990)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addiction_level (both effects)</a:t>
            </a:r>
            <a:endParaRPr lang="en-US" sz="13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955092-B80E-28F8-45A2-6E2DCC3339A2}"/>
              </a:ext>
            </a:extLst>
          </p:cNvPr>
          <p:cNvSpPr txBox="1">
            <a:spLocks/>
          </p:cNvSpPr>
          <p:nvPr/>
        </p:nvSpPr>
        <p:spPr>
          <a:xfrm>
            <a:off x="1261872" y="5360121"/>
            <a:ext cx="8595360" cy="639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435388-2096-9A33-7373-D9AC6A3D357E}"/>
              </a:ext>
            </a:extLst>
          </p:cNvPr>
          <p:cNvSpPr txBox="1">
            <a:spLocks/>
          </p:cNvSpPr>
          <p:nvPr/>
        </p:nvSpPr>
        <p:spPr>
          <a:xfrm>
            <a:off x="1261872" y="4991846"/>
            <a:ext cx="8595360" cy="639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Stepwise dropping screen time supports our hypothesis!</a:t>
            </a:r>
          </a:p>
        </p:txBody>
      </p:sp>
    </p:spTree>
    <p:extLst>
      <p:ext uri="{BB962C8B-B14F-4D97-AF65-F5344CB8AC3E}">
        <p14:creationId xmlns:p14="http://schemas.microsoft.com/office/powerpoint/2010/main" val="328412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AD3F-1886-4794-B5A3-15479471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order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2B458-D40B-CB67-6F98-60A56FD7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8974553" cy="18287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our reduced model, we test and select two influential second order terms:</a:t>
            </a:r>
          </a:p>
          <a:p>
            <a:pPr marL="0" indent="0">
              <a:buNone/>
            </a:pPr>
            <a:r>
              <a:rPr lang="en-US" b="1" dirty="0" err="1"/>
              <a:t>Focus_score</a:t>
            </a:r>
            <a:r>
              <a:rPr lang="en-US" b="1" dirty="0"/>
              <a:t> Squared and </a:t>
            </a:r>
            <a:r>
              <a:rPr lang="en-US" b="1" dirty="0" err="1"/>
              <a:t>Study_hours</a:t>
            </a:r>
            <a:r>
              <a:rPr lang="en-US" b="1" dirty="0"/>
              <a:t> squared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5574B-0CFD-CFF9-94A8-D517D484FA8A}"/>
              </a:ext>
            </a:extLst>
          </p:cNvPr>
          <p:cNvSpPr txBox="1"/>
          <p:nvPr/>
        </p:nvSpPr>
        <p:spPr>
          <a:xfrm>
            <a:off x="932607" y="6046490"/>
            <a:ext cx="610544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2865" indent="-6350" algn="ctr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E(y) = β₀ + β₁x₁ + β₂x₂ + β₃x₃ + β₄x₄ + β₅x₅ + β₆x₅² + β₇x₂²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FE4D0C-EBCE-6CB1-58EE-6F85BA4831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87785" y="3245883"/>
            <a:ext cx="2876718" cy="1366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FD8139-055F-95C2-2EF7-E16FE2FE8F2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59640" y="3245884"/>
            <a:ext cx="3257266" cy="136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91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7F48-FE26-C479-ACBF-81CF2D76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EC220-8765-8B3B-8BE8-E287F51A9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98734"/>
            <a:ext cx="8595360" cy="36656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our second order model, two interactions stood out as both highly significant on their own and as providing the largest improvement to Adjusted R-squared: </a:t>
            </a:r>
          </a:p>
          <a:p>
            <a:pPr marL="0" indent="0">
              <a:buNone/>
            </a:pPr>
            <a:r>
              <a:rPr lang="en-US" b="1" dirty="0" err="1"/>
              <a:t>study_hours</a:t>
            </a:r>
            <a:r>
              <a:rPr lang="en-US" b="1" dirty="0"/>
              <a:t> × </a:t>
            </a:r>
            <a:r>
              <a:rPr lang="en-US" b="1" dirty="0" err="1"/>
              <a:t>social_media_hours</a:t>
            </a:r>
            <a:r>
              <a:rPr lang="en-US" b="1" dirty="0"/>
              <a:t> and </a:t>
            </a:r>
            <a:r>
              <a:rPr lang="en-US" b="1" dirty="0" err="1"/>
              <a:t>study_hours</a:t>
            </a:r>
            <a:r>
              <a:rPr lang="en-US" b="1" dirty="0"/>
              <a:t> × </a:t>
            </a:r>
            <a:r>
              <a:rPr lang="en-US" b="1" dirty="0" err="1"/>
              <a:t>focus_score</a:t>
            </a:r>
            <a:endParaRPr lang="en-US" b="1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121335-F7A3-942D-51BA-B77CAE2F93D8}"/>
              </a:ext>
            </a:extLst>
          </p:cNvPr>
          <p:cNvGrpSpPr/>
          <p:nvPr/>
        </p:nvGrpSpPr>
        <p:grpSpPr>
          <a:xfrm>
            <a:off x="2129827" y="3709240"/>
            <a:ext cx="6859449" cy="1631503"/>
            <a:chOff x="0" y="0"/>
            <a:chExt cx="5349113" cy="10902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0A1DBC-FB83-8378-0843-1A8AAA0E84DB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376297" cy="109029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3B93176-A78C-7DBA-CEFD-ACFC7F46BEA9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0"/>
              <a:ext cx="2377313" cy="83312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242B063-9D7B-6AA1-8BB8-534E11D39542}"/>
              </a:ext>
            </a:extLst>
          </p:cNvPr>
          <p:cNvSpPr txBox="1"/>
          <p:nvPr/>
        </p:nvSpPr>
        <p:spPr>
          <a:xfrm>
            <a:off x="819318" y="5834306"/>
            <a:ext cx="827613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4770" indent="-6350" algn="ctr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E(y) = β₀ + β₁x₁ + β₂x₂ + β₃x₃ + β₄x₄ + β₅x₅ + β₆x₅² + β₇x₂² + β₈(x₁·x</a:t>
            </a:r>
            <a:r>
              <a:rPr lang="en-US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+ β₉(x₂·x₅) </a:t>
            </a:r>
          </a:p>
        </p:txBody>
      </p:sp>
    </p:spTree>
    <p:extLst>
      <p:ext uri="{BB962C8B-B14F-4D97-AF65-F5344CB8AC3E}">
        <p14:creationId xmlns:p14="http://schemas.microsoft.com/office/powerpoint/2010/main" val="383059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5D96-8A1D-3FDD-6DBB-C08903E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Validating our Final Model</a:t>
            </a:r>
          </a:p>
        </p:txBody>
      </p:sp>
      <p:pic>
        <p:nvPicPr>
          <p:cNvPr id="4" name="Image 0" descr="extracted_images/image39.png">
            <a:extLst>
              <a:ext uri="{FF2B5EF4-FFF2-40B4-BE49-F238E27FC236}">
                <a16:creationId xmlns:a16="http://schemas.microsoft.com/office/drawing/2014/main" id="{41DBD674-D2C2-E8E3-EDCA-E2B0BEC24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858" y="2045666"/>
            <a:ext cx="5337276" cy="1660486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B73D9513-E936-5D9A-7D83-23BE4A5C15AE}"/>
              </a:ext>
            </a:extLst>
          </p:cNvPr>
          <p:cNvSpPr/>
          <p:nvPr/>
        </p:nvSpPr>
        <p:spPr>
          <a:xfrm>
            <a:off x="1236058" y="4279878"/>
            <a:ext cx="36576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35BB713-DF73-429C-7E27-08C38E79FFA4}"/>
              </a:ext>
            </a:extLst>
          </p:cNvPr>
          <p:cNvSpPr/>
          <p:nvPr/>
        </p:nvSpPr>
        <p:spPr>
          <a:xfrm>
            <a:off x="1236058" y="437131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D41DDB9-7ED3-4730-BEB3-0E216421C3F2}"/>
              </a:ext>
            </a:extLst>
          </p:cNvPr>
          <p:cNvSpPr/>
          <p:nvPr/>
        </p:nvSpPr>
        <p:spPr>
          <a:xfrm>
            <a:off x="1236058" y="473707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0.8882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14AD975-B202-5100-1000-F703AA069491}"/>
              </a:ext>
            </a:extLst>
          </p:cNvPr>
          <p:cNvSpPr/>
          <p:nvPr/>
        </p:nvSpPr>
        <p:spPr>
          <a:xfrm>
            <a:off x="1236058" y="523999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RASE = 9.24    n = 3,968</a:t>
            </a:r>
            <a:endParaRPr lang="en-US" sz="11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8D1B5BE-E86A-EB92-B64A-1849EE4A88CC}"/>
              </a:ext>
            </a:extLst>
          </p:cNvPr>
          <p:cNvSpPr/>
          <p:nvPr/>
        </p:nvSpPr>
        <p:spPr>
          <a:xfrm>
            <a:off x="6305718" y="4279878"/>
            <a:ext cx="3657600" cy="13716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AE87013-10E5-1D6B-56E5-A67DECA67957}"/>
              </a:ext>
            </a:extLst>
          </p:cNvPr>
          <p:cNvSpPr/>
          <p:nvPr/>
        </p:nvSpPr>
        <p:spPr>
          <a:xfrm>
            <a:off x="6305718" y="437131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E3C9A25-B7BF-EDAC-6906-0C4BD86EF0A2}"/>
              </a:ext>
            </a:extLst>
          </p:cNvPr>
          <p:cNvSpPr/>
          <p:nvPr/>
        </p:nvSpPr>
        <p:spPr>
          <a:xfrm>
            <a:off x="6305718" y="473707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0.8858</a:t>
            </a:r>
            <a:endParaRPr lang="en-US" sz="2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CEE14B8-D90D-75F0-140A-C87C0D2841D8}"/>
              </a:ext>
            </a:extLst>
          </p:cNvPr>
          <p:cNvSpPr/>
          <p:nvPr/>
        </p:nvSpPr>
        <p:spPr>
          <a:xfrm>
            <a:off x="6305718" y="523999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RASE = 9.29    n = 1,014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249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BFC5-7C95-7DE9-1C52-1224F3FE1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730" y="481927"/>
            <a:ext cx="9418320" cy="110221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D3CC-C62A-D84F-8804-70E6C4316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817" y="2044874"/>
            <a:ext cx="9418320" cy="169164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has a stronger negative effect on productivity than total screen time alone.</a:t>
            </a:r>
            <a:endParaRPr lang="en-US" sz="2800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DB476CE-360D-14BC-2C57-B10B715396B9}"/>
              </a:ext>
            </a:extLst>
          </p:cNvPr>
          <p:cNvSpPr/>
          <p:nvPr/>
        </p:nvSpPr>
        <p:spPr>
          <a:xfrm>
            <a:off x="2936599" y="3299851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daily_screen_time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is non-significant once social_media_hours is in the model (p = 0.799)</a:t>
            </a:r>
            <a:endParaRPr lang="en-US" sz="16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FBCB612A-C428-5153-C5DC-A437B128F629}"/>
              </a:ext>
            </a:extLst>
          </p:cNvPr>
          <p:cNvSpPr/>
          <p:nvPr/>
        </p:nvSpPr>
        <p:spPr>
          <a:xfrm>
            <a:off x="2936599" y="437874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Stepwise (all methods) dropped daily_screen_time and kept social_media_hours</a:t>
            </a:r>
            <a:endParaRPr lang="en-US" sz="16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9E20F70-5F4C-CFAE-C162-CB16C82C0BFE}"/>
              </a:ext>
            </a:extLst>
          </p:cNvPr>
          <p:cNvSpPr/>
          <p:nvPr/>
        </p:nvSpPr>
        <p:spPr>
          <a:xfrm>
            <a:off x="2936599" y="545763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interacts with study hours — high SM use erodes the productivity gain from studying</a:t>
            </a:r>
            <a:endParaRPr lang="en-US" sz="1600" dirty="0"/>
          </a:p>
        </p:txBody>
      </p:sp>
      <p:pic>
        <p:nvPicPr>
          <p:cNvPr id="13" name="Graphic 12" descr="Badge 1 outline">
            <a:extLst>
              <a:ext uri="{FF2B5EF4-FFF2-40B4-BE49-F238E27FC236}">
                <a16:creationId xmlns:a16="http://schemas.microsoft.com/office/drawing/2014/main" id="{0CCA7341-8D5A-65CC-44FB-610963167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9202" y="3092995"/>
            <a:ext cx="825191" cy="825191"/>
          </a:xfrm>
          <a:prstGeom prst="rect">
            <a:avLst/>
          </a:prstGeom>
        </p:spPr>
      </p:pic>
      <p:pic>
        <p:nvPicPr>
          <p:cNvPr id="14" name="Graphic 13" descr="Badge outline">
            <a:extLst>
              <a:ext uri="{FF2B5EF4-FFF2-40B4-BE49-F238E27FC236}">
                <a16:creationId xmlns:a16="http://schemas.microsoft.com/office/drawing/2014/main" id="{4CB7CF6B-4D76-6E62-0DED-241C86909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9202" y="4146624"/>
            <a:ext cx="825191" cy="825191"/>
          </a:xfrm>
          <a:prstGeom prst="rect">
            <a:avLst/>
          </a:prstGeom>
        </p:spPr>
      </p:pic>
      <p:pic>
        <p:nvPicPr>
          <p:cNvPr id="15" name="Graphic 14" descr="Badge 3 outline">
            <a:extLst>
              <a:ext uri="{FF2B5EF4-FFF2-40B4-BE49-F238E27FC236}">
                <a16:creationId xmlns:a16="http://schemas.microsoft.com/office/drawing/2014/main" id="{D18B51D4-7495-94F2-A470-38CBE40C5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1514" y="5250779"/>
            <a:ext cx="825191" cy="82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1124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80</TotalTime>
  <Words>585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Schoolbook</vt:lpstr>
      <vt:lpstr>Consolas</vt:lpstr>
      <vt:lpstr>Times New Roman</vt:lpstr>
      <vt:lpstr>Wingdings 2</vt:lpstr>
      <vt:lpstr>View</vt:lpstr>
      <vt:lpstr>An Analysis of the Effect of Social Media Use on Productivity  </vt:lpstr>
      <vt:lpstr>My Research Question</vt:lpstr>
      <vt:lpstr>Dataset and Variables</vt:lpstr>
      <vt:lpstr>Exploratory Data Analysis</vt:lpstr>
      <vt:lpstr>Methods: Sequential Model Building</vt:lpstr>
      <vt:lpstr>Testing our research question</vt:lpstr>
      <vt:lpstr>Stepwise Selection</vt:lpstr>
      <vt:lpstr>Second order model</vt:lpstr>
      <vt:lpstr>Interaction Terms</vt:lpstr>
      <vt:lpstr>Validating our Final Model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likness</dc:creator>
  <cp:lastModifiedBy>henry likness</cp:lastModifiedBy>
  <cp:revision>1</cp:revision>
  <dcterms:created xsi:type="dcterms:W3CDTF">2026-04-29T21:08:37Z</dcterms:created>
  <dcterms:modified xsi:type="dcterms:W3CDTF">2026-04-29T22:29:19Z</dcterms:modified>
</cp:coreProperties>
</file>